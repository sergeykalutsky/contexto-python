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B3A7C"/>
          </a:solidFill>
          <a:ln w="12700">
            <a:solidFill>
              <a:srgbClr val="2B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Урок 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Слова как числа: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компьютер понимает, что слова похожи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73152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RU  ·  90 минут  ·  Python + Машинное обучение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Contexto?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загадывает одно слово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вводите любые слова-подсказки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«тепло/холодно» — РАНГ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 1 — точное попадание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 5 000 — совсем далеко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4960" y="1737360"/>
            <a:ext cx="3200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Пример попыток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32120" y="2286000"/>
            <a:ext cx="2926080" cy="457200"/>
          </a:xfrm>
          <a:prstGeom prst="rect">
            <a:avLst/>
          </a:prstGeom>
          <a:solidFill>
            <a:srgbClr val="F9B942">
              <a:alpha val="40000"/>
            </a:srgbClr>
          </a:solidFill>
          <a:ln w="12700">
            <a:solidFill>
              <a:srgbClr val="F9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музыка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52360" y="22860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близко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2834640"/>
            <a:ext cx="2926080" cy="45720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песня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0" y="2834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далековато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3383280"/>
            <a:ext cx="2926080" cy="457200"/>
          </a:xfrm>
          <a:prstGeom prst="rect">
            <a:avLst/>
          </a:prstGeom>
          <a:solidFill>
            <a:srgbClr val="8FCE00">
              <a:alpha val="40000"/>
            </a:srgbClr>
          </a:solidFill>
          <a:ln w="12700">
            <a:solidFill>
              <a:srgbClr val="8FC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383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нота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3383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52360" y="3383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тепло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3931920"/>
            <a:ext cx="2926080" cy="457200"/>
          </a:xfrm>
          <a:prstGeom prst="rect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мелодия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52360" y="3931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попадание!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Загадано слово «мелодия». Чем меньше ранг, тем ближе слово по смыслу.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План на 90 минут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слова → числа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мин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167128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1671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Векторы и косинус угла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167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мин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2642616"/>
            <a:ext cx="384048" cy="384048"/>
          </a:xfrm>
          <a:prstGeom prst="ellipse">
            <a:avLst/>
          </a:prstGeom>
          <a:solidFill>
            <a:srgbClr val="F9B942"/>
          </a:solidFill>
          <a:ln w="12700">
            <a:solidFill>
              <a:srgbClr val="F9B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26426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fastText и русская модель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2642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мин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118104"/>
            <a:ext cx="384048" cy="384048"/>
          </a:xfrm>
          <a:prstGeom prst="ellipse">
            <a:avLst/>
          </a:prstGeom>
          <a:solidFill>
            <a:srgbClr val="F9B942"/>
          </a:solidFill>
          <a:ln w="12700">
            <a:solidFill>
              <a:srgbClr val="F9B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1181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пишем cosine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83680" y="3118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мин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3593592"/>
            <a:ext cx="384048" cy="384048"/>
          </a:xfrm>
          <a:prstGeom prst="ellipse">
            <a:avLst/>
          </a:prstGeom>
          <a:solidFill>
            <a:srgbClr val="2B3A7C"/>
          </a:solidFill>
          <a:ln w="12700">
            <a:solidFill>
              <a:srgbClr val="2B3A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35935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слов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83680" y="3593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мин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2B3A7C"/>
          </a:solidFill>
          <a:ln w="12700">
            <a:solidFill>
              <a:srgbClr val="2B3A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4069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домашка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583680" y="4069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мин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увидит игрок?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— очень близко, жёлтый — средне, красный — далеко.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Слово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Ранг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Близость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331720"/>
            <a:ext cx="7315200" cy="347472"/>
          </a:xfrm>
          <a:prstGeom prst="rect">
            <a:avLst/>
          </a:prstGeom>
          <a:solidFill>
            <a:srgbClr val="8FCE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мелодия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331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679192"/>
            <a:ext cx="7315200" cy="347472"/>
          </a:xfrm>
          <a:prstGeom prst="rect">
            <a:avLst/>
          </a:prstGeom>
          <a:solidFill>
            <a:srgbClr val="CDEC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679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песня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679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6791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0.7821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026664"/>
            <a:ext cx="7315200" cy="347472"/>
          </a:xfrm>
          <a:prstGeom prst="rect">
            <a:avLst/>
          </a:prstGeom>
          <a:solidFill>
            <a:srgbClr val="CDEC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026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0266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3374136"/>
            <a:ext cx="7315200" cy="347472"/>
          </a:xfrm>
          <a:prstGeom prst="rect">
            <a:avLst/>
          </a:prstGeom>
          <a:solidFill>
            <a:srgbClr val="E7F6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3741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нота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33741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0.6342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3721608"/>
            <a:ext cx="7315200" cy="347472"/>
          </a:xfrm>
          <a:prstGeom prst="rect">
            <a:avLst/>
          </a:prstGeom>
          <a:solidFill>
            <a:srgbClr val="FFF1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37216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музыка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721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3721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0.5288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4400" y="4069080"/>
            <a:ext cx="7315200" cy="347472"/>
          </a:xfrm>
          <a:prstGeom prst="rect">
            <a:avLst/>
          </a:prstGeom>
          <a:solidFill>
            <a:srgbClr val="F9D7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069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4069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8 942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4069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0.1803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Запомним: ранг 1 = точно угадано. Большой ранг = слова не связаны.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Главная идея урока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Каждое слово  →  список чисел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«кот»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88920" y="3108960"/>
            <a:ext cx="73152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66160" y="2743200"/>
            <a:ext cx="46634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743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[ 0.12,  −0.45,  0.88,  0.03,  …,  −0.21 ]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чисел на одно слово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сравнивать легко. Буквы — нет. Вот и весь секрет.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Вектор — это стрелка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[3, 2] — «3 вправо, 2 вверх»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Рисуется как стрелка из точки (0, 0)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числа = 2D, три = 3D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чисел — «стрелка» в 300-мерном пространстве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0" y="1737360"/>
            <a:ext cx="3017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4297680"/>
            <a:ext cx="22860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26480" y="4297680"/>
            <a:ext cx="0" cy="-21945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26480" y="4297680"/>
            <a:ext cx="1463040" cy="-1005840"/>
          </a:xfrm>
          <a:prstGeom prst="line">
            <a:avLst/>
          </a:prstGeom>
          <a:noFill/>
          <a:ln w="508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13232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2]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4297680"/>
            <a:ext cx="1005840" cy="-1554480"/>
          </a:xfrm>
          <a:prstGeom prst="line">
            <a:avLst/>
          </a:prstGeom>
          <a:noFill/>
          <a:ln w="508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17220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3]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Слова — тоже точки на карте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Похожие по смыслу слова оказываются рядом друг с другом.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7498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256032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2487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292608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32918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щенок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20040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3127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котёнок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377440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304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автомобиль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2834640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2761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3474720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4032" y="3401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грузовик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3657600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мотоцикл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931920"/>
            <a:ext cx="146304" cy="146304"/>
          </a:xfrm>
          <a:prstGeom prst="ellipse">
            <a:avLst/>
          </a:prstGeom>
          <a:solidFill>
            <a:srgbClr val="F9B942"/>
          </a:solidFill>
          <a:ln w="12700">
            <a:solidFill>
              <a:srgbClr val="F9B9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пицца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749040"/>
            <a:ext cx="146304" cy="146304"/>
          </a:xfrm>
          <a:prstGeom prst="ellipse">
            <a:avLst/>
          </a:prstGeom>
          <a:solidFill>
            <a:srgbClr val="F9B942"/>
          </a:solidFill>
          <a:ln w="12700">
            <a:solidFill>
              <a:srgbClr val="F9B9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675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3383280"/>
            <a:ext cx="146304" cy="146304"/>
          </a:xfrm>
          <a:prstGeom prst="ellipse">
            <a:avLst/>
          </a:prstGeom>
          <a:solidFill>
            <a:srgbClr val="F9B942"/>
          </a:solidFill>
          <a:ln w="12700">
            <a:solidFill>
              <a:srgbClr val="F9B9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310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 — в одном углу, транспорт — в другом, еда — в третьем. Компьютер видит это по векторам.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2D → 3D → 300D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плоскость, бумага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9496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[x, y]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14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мир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9496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[x, y, z]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333756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0312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fastText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94960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[v1, v2, …, v300]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осей нарисовать невозможно — но перемножить, сложить и сравнить их легко. Это делает компьютер.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Сравниваем векторы по углу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Маленький угол → векторы смотрят в одну сторону → слова похожи.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828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3474720"/>
            <a:ext cx="0" cy="-1188720"/>
          </a:xfrm>
          <a:prstGeom prst="line">
            <a:avLst/>
          </a:prstGeom>
          <a:noFill/>
          <a:ln w="508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737360" y="3474720"/>
            <a:ext cx="260331" cy="-971567"/>
          </a:xfrm>
          <a:prstGeom prst="line">
            <a:avLst/>
          </a:prstGeom>
          <a:noFill/>
          <a:ln w="508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2296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похожи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 ≈ 0.97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1783080"/>
            <a:ext cx="1828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3474720"/>
            <a:ext cx="0" cy="-1188720"/>
          </a:xfrm>
          <a:prstGeom prst="line">
            <a:avLst/>
          </a:prstGeom>
          <a:noFill/>
          <a:ln w="50800">
            <a:solidFill>
              <a:srgbClr val="F9B94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3474720"/>
            <a:ext cx="945180" cy="-344018"/>
          </a:xfrm>
          <a:prstGeom prst="line">
            <a:avLst/>
          </a:prstGeom>
          <a:noFill/>
          <a:ln w="508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65760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так себе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 ≈ 0.34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783080"/>
            <a:ext cx="1828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3474720"/>
            <a:ext cx="0" cy="-1188720"/>
          </a:xfrm>
          <a:prstGeom prst="line">
            <a:avLst/>
          </a:prstGeom>
          <a:noFill/>
          <a:ln w="508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3474720"/>
            <a:ext cx="871083" cy="502920"/>
          </a:xfrm>
          <a:prstGeom prst="line">
            <a:avLst/>
          </a:prstGeom>
          <a:noFill/>
          <a:ln w="508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49224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далеки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 ≈ −0.5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Косинус угла как «похожесть»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749808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830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Угол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17830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Косинус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7830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221992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2219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2219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22199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векторы совпадают — одно и то же слово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2660904"/>
            <a:ext cx="7498080" cy="43891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6609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11680" y="26609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266090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похожи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309981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0998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3099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9981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связаны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3538728"/>
            <a:ext cx="7498080" cy="43891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538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11680" y="35387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66160" y="35387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смотрят в разные стороны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Contexto значения обычно от 0 до 1 (слова редко «противоположны» по смыслу).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Формула cosine similarity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731520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cos(A, B) = </a:t>
            </a:r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B</a:t>
            </a:r>
            <a:pPr algn="ctr"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</a:t>
            </a:r>
            <a:pPr algn="ctr" indent="0" marL="0">
              <a:buNone/>
            </a:pPr>
            <a:r>
              <a:rPr lang="en-US" sz="3000" b="1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(|A| · |B|)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108960"/>
            <a:ext cx="219456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·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скалярное произведение: перемножили и сложили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10896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B9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3108960"/>
            <a:ext cx="2194560" cy="320040"/>
          </a:xfrm>
          <a:prstGeom prst="rect">
            <a:avLst/>
          </a:prstGeom>
          <a:solidFill>
            <a:srgbClr val="F9B942"/>
          </a:solidFill>
          <a:ln w="12700">
            <a:solidFill>
              <a:srgbClr val="F9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|A|, |B|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длины векторов — как длина стрелки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3A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108960"/>
            <a:ext cx="2194560" cy="320040"/>
          </a:xfrm>
          <a:prstGeom prst="rect">
            <a:avLst/>
          </a:prstGeom>
          <a:solidFill>
            <a:srgbClr val="2B3A7C"/>
          </a:solidFill>
          <a:ln w="12700">
            <a:solidFill>
              <a:srgbClr val="2B3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от −1 до 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fastText — готовые эмбеддинги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от Facebook AI Research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Читала Википедию и огромные тексты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 значение слова как 300 чисел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обучать самим — просто скачиваем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M+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 в модели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697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чисел на слово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703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 ГБ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3504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архив .gz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Файл cc.ru.300.vec.gz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.gz — сжатый архив (как .zip), 1.3 ГБ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— обычный текстовый файл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строка — служебная (сколько слов)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следующая: слово и 300 чисел через пробел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49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мама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0.0123 -0.4561 0.7890 0.0301 … -0.2104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(первое слово, дальше 300 чисел)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разобрать строку?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Режем строку по пробелу: первое слово — само слово, остальные — числа.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7863840" cy="1920240"/>
          </a:xfrm>
          <a:prstGeom prst="rect">
            <a:avLst/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057400"/>
            <a:ext cx="7406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'мама 0.0123 -0.4561 0.7890 ... -0.2104'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 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parts[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'мама'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(v)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parts[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:]]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300 чисел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float(v) превращает строку «0.0123» в число. zip и list comprehension вы уже знаете.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Читаем сжатый файл через gzip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— встроенный модуль Python. Работает как open(), только для .gz.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7863840" cy="2560320"/>
          </a:xfrm>
          <a:prstGeom prst="rect">
            <a:avLst/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057400"/>
            <a:ext cx="7406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gzip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gzip.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(path,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'rt'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пропускаем заголовок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parts = line.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rstrip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word, *nums = parts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«rt» = read text. Строки читаются по одной — файл в память не загружается.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Практика: пишем cosine_similarity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7863840" cy="1097280"/>
          </a:xfrm>
          <a:prstGeom prst="roundRect">
            <a:avLst>
              <a:gd name="adj" fmla="val 8333"/>
            </a:avLst>
          </a:prstGeom>
          <a:solidFill>
            <a:srgbClr val="F96167">
              <a:alpha val="20000"/>
            </a:srgbClr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Задача (20 минут)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функцию cosine_similarity(vec_a, vec_b) → число от −1 до 1.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154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Скалярное произведение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перемножить пары и сложить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611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каждого вектора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3611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 от суммы квадратов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069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Поделить и вернуть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4069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 / (len_a × len_b)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1: скалярное произведение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«Перемножили пары чисел и всё сложили». Идеально подходит zip.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7315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45920" y="1965960"/>
            <a:ext cx="7315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1965960"/>
            <a:ext cx="7315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2960" y="2834640"/>
            <a:ext cx="731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645920" y="2834640"/>
            <a:ext cx="731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468880" y="2834640"/>
            <a:ext cx="731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1·4 + 3·0 + 2·2 = 8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1965960"/>
            <a:ext cx="3931920" cy="1188720"/>
          </a:xfrm>
          <a:prstGeom prst="rect">
            <a:avLst/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dot(a, b):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(x*y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x, y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соединяет списки в пары. sum() сложит результаты.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2: длина вектора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|v| = √( v₁² + v₂² + … + v₃₀₀² 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Теорема Пифагора, только для 300 чисел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math.sqrt даёт нам корень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квадратов — через sum(a*a for a in vec)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2743200"/>
            <a:ext cx="3474720" cy="1554480"/>
          </a:xfrm>
          <a:prstGeom prst="rect">
            <a:avLst/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57800" y="28803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length(v):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math.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(a*a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v))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3: собираем вместе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7863840" cy="2651760"/>
          </a:xfrm>
          <a:prstGeom prst="rect">
            <a:avLst/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87452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cosine_similarity(vec_a, vec_b):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dot =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(a*b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b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(vec_a, vec_b))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len_a = math.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(a*a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vec_a))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len_b = math.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(b*b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vec_b))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len_a ==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len_b ==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защита от деления на ноль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dot / (len_a * len_b)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хоть один вектор нулевой — возвращаем 0, иначе будет ошибка деления на ноль.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Код из проекта — проверь себя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7863840" cy="3200400"/>
          </a:xfrm>
          <a:prstGeom prst="rect">
            <a:avLst/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37360"/>
            <a:ext cx="7406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cosine_similarity(vec_a, vec_b):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vec_a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not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vec_b: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dot_product =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* b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b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(vec_a, vec_b))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len_a = math.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* a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vec_a))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len_b = math.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* b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vec_b))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len_a ==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len_b ==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dot_product / (len_a * len_b)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Зачем нормализовать слова?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компьютера «Кот», «кот» и «КОТ!» — разные строки. Нужна ОДНА форма.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Кот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кот!!!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КОТ 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Ко́т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0" y="2971800"/>
            <a:ext cx="118872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56616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60604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606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кот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нормализации мы работаем только с «канонической» формой слова.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1: чистка строки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.strip() — убирает пробелы по краям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.lower() — переводит в нижний регистр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.replace("ё", "е") — в fastText «ё» хранится как «е»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5204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Ёжик  '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= text.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'ё'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'е'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cleaned == 'ежик'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2: убираем лишние символы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Регулярка [^\w\-]+ = «всё, что НЕ буква/цифра/дефис». Такое выбрасываем.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7863840" cy="2011680"/>
          </a:xfrm>
          <a:prstGeom prst="rect">
            <a:avLst/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92024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WORD_RE = re.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r'[^\w\-]+'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re.UNICODE)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= WORD_RE.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'кот!!! 😺'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cleaned == 'кот'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кот!!!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402336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день—ночь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деньночь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402336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тест 😺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тест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3: лемматизация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Лемма — начальная форма слова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«коты», «котов», «котами» → «кот»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библиотека pymorphy3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не установлена — игра всё равно работает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7863840" cy="1417320"/>
          </a:xfrm>
          <a:prstGeom prst="rect">
            <a:avLst/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38328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pymorphy3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_morph = pymorphy3.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MorphAnalyzer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ImportError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_morph =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Практика: нормализуй эти слова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F9B942">
              <a:alpha val="25000"/>
            </a:srgbClr>
          </a:solidFill>
          <a:ln w="25400">
            <a:solidFill>
              <a:srgbClr val="F9B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Задание (10 минут)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 функцию normalize(word) без pymorphy3 и применим её к 5 строкам ниже.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7863840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88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Привет!  '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788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'привет'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7863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54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'КОТ'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315468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1546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'кот'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7863840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20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'ёлочка'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35204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520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'елочка'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7863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886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'про-граммирование'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38862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38862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'про-граммирование'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251960"/>
            <a:ext cx="7863840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2519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'123тест'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42519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4251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'123тест'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Подсказка: достаточно strip + lower + replace ё→е.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мы узнали за 90 минут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слово — вектор из 300 чисел (эмбеддинг)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304288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3042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Похожесть слов = косинус угла между векторами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871216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87121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fastText даёт готовые русские эмбеддинги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438144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43814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Косинусную близость пишем в 5 строках Python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005072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4005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 перед сравнением надо нормализовать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Наша модель в цифрах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2B3A7C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чисел на одно слово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2B3A7C"/>
          </a:solidFill>
          <a:ln w="25400">
            <a:solidFill>
              <a:srgbClr val="F9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011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9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50К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61188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 в игровом словаре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2B3A7C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11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 ГБ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44652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модели fastText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это нужно один раз скачать — и можно играть сколько угодно.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будет на Уроке 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7360"/>
            <a:ext cx="73152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373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17373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embeddings, game, main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23160"/>
            <a:ext cx="73152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4231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24231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и ООП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2423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ContextoGame хранит состояние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108960"/>
            <a:ext cx="73152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1089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3108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Ранжирование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0560" y="31089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 каждого слова относительно загаданного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79476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794760"/>
            <a:ext cx="73152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947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45920" y="3794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Мини-игра в консоли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80560" y="37947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Contexto на ~50 строк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Слова как числа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Домашнее задание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cosine_similarity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305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Протестируй на парах: [1,0] и [0,1]; [1,1] и [2,2]; [3,0] и [-3,0]. Какие значения ожидаешь?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normalize()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0906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Нормализуй 10 слов из любой книги: «Война», «мир», «Пушкин!», «ёж» и т. д. — без pymorphy3.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Объясни другу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050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 минуты расскажи: что такое эмбеддинг и при чём тут косинус. Без кода, на словах.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F96167">
              <a:alpha val="5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2B3A7C"/>
          </a:solidFill>
          <a:ln w="12700">
            <a:solidFill>
              <a:srgbClr val="2B3A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Отличная работа!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Python умеет сравнивать слова по смыслу 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значит, может играть в Contexto.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74904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Увидимся на Уроке 2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Contexto RU — Урок 1</dc:title>
  <dc:subject>PptxGenJS Presentation</dc:subject>
  <dc:creator>Преподаватель</dc:creator>
  <cp:lastModifiedBy>Преподаватель</cp:lastModifiedBy>
  <cp:revision>1</cp:revision>
  <dcterms:created xsi:type="dcterms:W3CDTF">2026-04-18T09:16:15Z</dcterms:created>
  <dcterms:modified xsi:type="dcterms:W3CDTF">2026-04-18T09:16:15Z</dcterms:modified>
</cp:coreProperties>
</file>